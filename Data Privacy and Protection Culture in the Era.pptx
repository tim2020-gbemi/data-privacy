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82" r:id="rId3"/>
    <p:sldId id="280" r:id="rId4"/>
    <p:sldId id="281" r:id="rId5"/>
    <p:sldId id="283" r:id="rId6"/>
    <p:sldId id="284" r:id="rId7"/>
    <p:sldId id="285" r:id="rId8"/>
    <p:sldId id="257" r:id="rId9"/>
    <p:sldId id="259" r:id="rId10"/>
    <p:sldId id="260" r:id="rId11"/>
    <p:sldId id="261" r:id="rId12"/>
    <p:sldId id="269" r:id="rId13"/>
    <p:sldId id="268" r:id="rId14"/>
    <p:sldId id="271" r:id="rId15"/>
    <p:sldId id="276" r:id="rId16"/>
    <p:sldId id="27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6" d="100"/>
          <a:sy n="66" d="100"/>
        </p:scale>
        <p:origin x="668"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35ED19AC-B9B0-4B13-B5AE-64679565143E}" type="datetimeFigureOut">
              <a:rPr lang="en-US" smtClean="0"/>
              <a:t>1/28/2026</a:t>
            </a:fld>
            <a:endParaRPr lang="en-US"/>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endParaRPr lang="en-US"/>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59A02F49-5DC6-4C21-B867-A55B71B32006}" type="slidenum">
              <a:rPr lang="en-US" smtClean="0"/>
              <a:t>‹#›</a:t>
            </a:fld>
            <a:endParaRPr lang="en-US"/>
          </a:p>
        </p:txBody>
      </p:sp>
    </p:spTree>
    <p:extLst>
      <p:ext uri="{BB962C8B-B14F-4D97-AF65-F5344CB8AC3E}">
        <p14:creationId xmlns:p14="http://schemas.microsoft.com/office/powerpoint/2010/main" val="1989760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ED19AC-B9B0-4B13-B5AE-64679565143E}"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A02F49-5DC6-4C21-B867-A55B71B32006}" type="slidenum">
              <a:rPr lang="en-US" smtClean="0"/>
              <a:t>‹#›</a:t>
            </a:fld>
            <a:endParaRPr lang="en-US"/>
          </a:p>
        </p:txBody>
      </p:sp>
    </p:spTree>
    <p:extLst>
      <p:ext uri="{BB962C8B-B14F-4D97-AF65-F5344CB8AC3E}">
        <p14:creationId xmlns:p14="http://schemas.microsoft.com/office/powerpoint/2010/main" val="4154425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ED19AC-B9B0-4B13-B5AE-64679565143E}"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9A02F49-5DC6-4C21-B867-A55B71B32006}" type="slidenum">
              <a:rPr lang="en-US" smtClean="0"/>
              <a:t>‹#›</a:t>
            </a:fld>
            <a:endParaRPr lang="en-US"/>
          </a:p>
        </p:txBody>
      </p:sp>
    </p:spTree>
    <p:extLst>
      <p:ext uri="{BB962C8B-B14F-4D97-AF65-F5344CB8AC3E}">
        <p14:creationId xmlns:p14="http://schemas.microsoft.com/office/powerpoint/2010/main" val="601788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5ED19AC-B9B0-4B13-B5AE-64679565143E}"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A02F49-5DC6-4C21-B867-A55B71B32006}" type="slidenum">
              <a:rPr lang="en-US" smtClean="0"/>
              <a:t>‹#›</a:t>
            </a:fld>
            <a:endParaRPr lang="en-US"/>
          </a:p>
        </p:txBody>
      </p:sp>
    </p:spTree>
    <p:extLst>
      <p:ext uri="{BB962C8B-B14F-4D97-AF65-F5344CB8AC3E}">
        <p14:creationId xmlns:p14="http://schemas.microsoft.com/office/powerpoint/2010/main" val="3744024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5ED19AC-B9B0-4B13-B5AE-64679565143E}" type="datetimeFigureOut">
              <a:rPr lang="en-US" smtClean="0"/>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A02F49-5DC6-4C21-B867-A55B71B32006}" type="slidenum">
              <a:rPr lang="en-US" smtClean="0"/>
              <a:t>‹#›</a:t>
            </a:fld>
            <a:endParaRPr lang="en-US"/>
          </a:p>
        </p:txBody>
      </p:sp>
    </p:spTree>
    <p:extLst>
      <p:ext uri="{BB962C8B-B14F-4D97-AF65-F5344CB8AC3E}">
        <p14:creationId xmlns:p14="http://schemas.microsoft.com/office/powerpoint/2010/main" val="3364621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5ED19AC-B9B0-4B13-B5AE-64679565143E}" type="datetimeFigureOut">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A02F49-5DC6-4C21-B867-A55B71B32006}" type="slidenum">
              <a:rPr lang="en-US" smtClean="0"/>
              <a:t>‹#›</a:t>
            </a:fld>
            <a:endParaRPr lang="en-US"/>
          </a:p>
        </p:txBody>
      </p:sp>
    </p:spTree>
    <p:extLst>
      <p:ext uri="{BB962C8B-B14F-4D97-AF65-F5344CB8AC3E}">
        <p14:creationId xmlns:p14="http://schemas.microsoft.com/office/powerpoint/2010/main" val="41311010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ED19AC-B9B0-4B13-B5AE-64679565143E}" type="datetimeFigureOut">
              <a:rPr lang="en-US" smtClean="0"/>
              <a:t>1/28/2026</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59A02F49-5DC6-4C21-B867-A55B71B32006}" type="slidenum">
              <a:rPr lang="en-US" smtClean="0"/>
              <a:t>‹#›</a:t>
            </a:fld>
            <a:endParaRPr lang="en-US"/>
          </a:p>
        </p:txBody>
      </p:sp>
    </p:spTree>
    <p:extLst>
      <p:ext uri="{BB962C8B-B14F-4D97-AF65-F5344CB8AC3E}">
        <p14:creationId xmlns:p14="http://schemas.microsoft.com/office/powerpoint/2010/main" val="3401151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D19AC-B9B0-4B13-B5AE-64679565143E}"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9A02F49-5DC6-4C21-B867-A55B71B32006}" type="slidenum">
              <a:rPr lang="en-US" smtClean="0"/>
              <a:t>‹#›</a:t>
            </a:fld>
            <a:endParaRPr lang="en-US"/>
          </a:p>
        </p:txBody>
      </p:sp>
    </p:spTree>
    <p:extLst>
      <p:ext uri="{BB962C8B-B14F-4D97-AF65-F5344CB8AC3E}">
        <p14:creationId xmlns:p14="http://schemas.microsoft.com/office/powerpoint/2010/main" val="3999200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D19AC-B9B0-4B13-B5AE-64679565143E}"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9A02F49-5DC6-4C21-B867-A55B71B32006}" type="slidenum">
              <a:rPr lang="en-US" smtClean="0"/>
              <a:t>‹#›</a:t>
            </a:fld>
            <a:endParaRPr lang="en-US"/>
          </a:p>
        </p:txBody>
      </p:sp>
    </p:spTree>
    <p:extLst>
      <p:ext uri="{BB962C8B-B14F-4D97-AF65-F5344CB8AC3E}">
        <p14:creationId xmlns:p14="http://schemas.microsoft.com/office/powerpoint/2010/main" val="210612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D19AC-B9B0-4B13-B5AE-64679565143E}"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9A02F49-5DC6-4C21-B867-A55B71B32006}" type="slidenum">
              <a:rPr lang="en-US" smtClean="0"/>
              <a:t>‹#›</a:t>
            </a:fld>
            <a:endParaRPr lang="en-US"/>
          </a:p>
        </p:txBody>
      </p:sp>
    </p:spTree>
    <p:extLst>
      <p:ext uri="{BB962C8B-B14F-4D97-AF65-F5344CB8AC3E}">
        <p14:creationId xmlns:p14="http://schemas.microsoft.com/office/powerpoint/2010/main" val="3079390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5ED19AC-B9B0-4B13-B5AE-64679565143E}"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9A02F49-5DC6-4C21-B867-A55B71B32006}" type="slidenum">
              <a:rPr lang="en-US" smtClean="0"/>
              <a:t>‹#›</a:t>
            </a:fld>
            <a:endParaRPr lang="en-US"/>
          </a:p>
        </p:txBody>
      </p:sp>
    </p:spTree>
    <p:extLst>
      <p:ext uri="{BB962C8B-B14F-4D97-AF65-F5344CB8AC3E}">
        <p14:creationId xmlns:p14="http://schemas.microsoft.com/office/powerpoint/2010/main" val="29804134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5ED19AC-B9B0-4B13-B5AE-64679565143E}"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9A02F49-5DC6-4C21-B867-A55B71B32006}" type="slidenum">
              <a:rPr lang="en-US" smtClean="0"/>
              <a:t>‹#›</a:t>
            </a:fld>
            <a:endParaRPr lang="en-US"/>
          </a:p>
        </p:txBody>
      </p:sp>
    </p:spTree>
    <p:extLst>
      <p:ext uri="{BB962C8B-B14F-4D97-AF65-F5344CB8AC3E}">
        <p14:creationId xmlns:p14="http://schemas.microsoft.com/office/powerpoint/2010/main" val="42493145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ED19AC-B9B0-4B13-B5AE-64679565143E}"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9A02F49-5DC6-4C21-B867-A55B71B32006}" type="slidenum">
              <a:rPr lang="en-US" smtClean="0"/>
              <a:t>‹#›</a:t>
            </a:fld>
            <a:endParaRPr lang="en-US"/>
          </a:p>
        </p:txBody>
      </p:sp>
    </p:spTree>
    <p:extLst>
      <p:ext uri="{BB962C8B-B14F-4D97-AF65-F5344CB8AC3E}">
        <p14:creationId xmlns:p14="http://schemas.microsoft.com/office/powerpoint/2010/main" val="14159658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5ED19AC-B9B0-4B13-B5AE-64679565143E}" type="datetimeFigureOut">
              <a:rPr lang="en-US" smtClean="0"/>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A02F49-5DC6-4C21-B867-A55B71B32006}" type="slidenum">
              <a:rPr lang="en-US" smtClean="0"/>
              <a:t>‹#›</a:t>
            </a:fld>
            <a:endParaRPr lang="en-US"/>
          </a:p>
        </p:txBody>
      </p:sp>
    </p:spTree>
    <p:extLst>
      <p:ext uri="{BB962C8B-B14F-4D97-AF65-F5344CB8AC3E}">
        <p14:creationId xmlns:p14="http://schemas.microsoft.com/office/powerpoint/2010/main" val="275287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5ED19AC-B9B0-4B13-B5AE-64679565143E}" type="datetimeFigureOut">
              <a:rPr lang="en-US" smtClean="0"/>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A02F49-5DC6-4C21-B867-A55B71B32006}" type="slidenum">
              <a:rPr lang="en-US" smtClean="0"/>
              <a:t>‹#›</a:t>
            </a:fld>
            <a:endParaRPr lang="en-US"/>
          </a:p>
        </p:txBody>
      </p:sp>
    </p:spTree>
    <p:extLst>
      <p:ext uri="{BB962C8B-B14F-4D97-AF65-F5344CB8AC3E}">
        <p14:creationId xmlns:p14="http://schemas.microsoft.com/office/powerpoint/2010/main" val="34844520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ED19AC-B9B0-4B13-B5AE-64679565143E}"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A02F49-5DC6-4C21-B867-A55B71B32006}" type="slidenum">
              <a:rPr lang="en-US" smtClean="0"/>
              <a:t>‹#›</a:t>
            </a:fld>
            <a:endParaRPr lang="en-US"/>
          </a:p>
        </p:txBody>
      </p:sp>
    </p:spTree>
    <p:extLst>
      <p:ext uri="{BB962C8B-B14F-4D97-AF65-F5344CB8AC3E}">
        <p14:creationId xmlns:p14="http://schemas.microsoft.com/office/powerpoint/2010/main" val="5718834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ED19AC-B9B0-4B13-B5AE-64679565143E}"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9A02F49-5DC6-4C21-B867-A55B71B32006}" type="slidenum">
              <a:rPr lang="en-US" smtClean="0"/>
              <a:t>‹#›</a:t>
            </a:fld>
            <a:endParaRPr lang="en-US"/>
          </a:p>
        </p:txBody>
      </p:sp>
    </p:spTree>
    <p:extLst>
      <p:ext uri="{BB962C8B-B14F-4D97-AF65-F5344CB8AC3E}">
        <p14:creationId xmlns:p14="http://schemas.microsoft.com/office/powerpoint/2010/main" val="16784154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35ED19AC-B9B0-4B13-B5AE-64679565143E}" type="datetimeFigureOut">
              <a:rPr lang="en-US" smtClean="0"/>
              <a:t>1/28/2026</a:t>
            </a:fld>
            <a:endParaRPr lang="en-US"/>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endParaRPr lang="en-US"/>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59A02F49-5DC6-4C21-B867-A55B71B32006}" type="slidenum">
              <a:rPr lang="en-US" smtClean="0"/>
              <a:t>‹#›</a:t>
            </a:fld>
            <a:endParaRPr lang="en-US"/>
          </a:p>
        </p:txBody>
      </p:sp>
    </p:spTree>
    <p:extLst>
      <p:ext uri="{BB962C8B-B14F-4D97-AF65-F5344CB8AC3E}">
        <p14:creationId xmlns:p14="http://schemas.microsoft.com/office/powerpoint/2010/main" val="1591488062"/>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A43BC01-7303-4911-8C84-7DAD24DF2A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9570" y="234965"/>
            <a:ext cx="3771900" cy="1209675"/>
          </a:xfrm>
          <a:prstGeom prst="rect">
            <a:avLst/>
          </a:prstGeom>
        </p:spPr>
      </p:pic>
      <p:sp>
        <p:nvSpPr>
          <p:cNvPr id="2" name="Title 1">
            <a:extLst>
              <a:ext uri="{FF2B5EF4-FFF2-40B4-BE49-F238E27FC236}">
                <a16:creationId xmlns:a16="http://schemas.microsoft.com/office/drawing/2014/main" id="{A2D2C4B9-699C-4E28-BEFF-B38545A17FB5}"/>
              </a:ext>
            </a:extLst>
          </p:cNvPr>
          <p:cNvSpPr>
            <a:spLocks noGrp="1"/>
          </p:cNvSpPr>
          <p:nvPr>
            <p:ph type="ctrTitle"/>
          </p:nvPr>
        </p:nvSpPr>
        <p:spPr>
          <a:xfrm>
            <a:off x="1524000" y="1512419"/>
            <a:ext cx="9144000" cy="2387600"/>
          </a:xfrm>
        </p:spPr>
        <p:txBody>
          <a:bodyPr>
            <a:normAutofit fontScale="90000"/>
          </a:bodyPr>
          <a:lstStyle/>
          <a:p>
            <a:r>
              <a:rPr lang="en-US" dirty="0">
                <a:latin typeface="Aptos"/>
              </a:rPr>
              <a:t>Data Privacy and Protection Culture in the Era of Emerging Technologies:</a:t>
            </a:r>
          </a:p>
        </p:txBody>
      </p:sp>
      <p:sp>
        <p:nvSpPr>
          <p:cNvPr id="3" name="Subtitle 2">
            <a:extLst>
              <a:ext uri="{FF2B5EF4-FFF2-40B4-BE49-F238E27FC236}">
                <a16:creationId xmlns:a16="http://schemas.microsoft.com/office/drawing/2014/main" id="{C13C86BF-0162-49AB-948B-ED365B1E0669}"/>
              </a:ext>
            </a:extLst>
          </p:cNvPr>
          <p:cNvSpPr>
            <a:spLocks noGrp="1"/>
          </p:cNvSpPr>
          <p:nvPr>
            <p:ph type="subTitle" idx="1"/>
          </p:nvPr>
        </p:nvSpPr>
        <p:spPr>
          <a:xfrm>
            <a:off x="1601002" y="3967798"/>
            <a:ext cx="9144000" cy="1655762"/>
          </a:xfrm>
        </p:spPr>
        <p:txBody>
          <a:bodyPr>
            <a:normAutofit/>
          </a:bodyPr>
          <a:lstStyle/>
          <a:p>
            <a:r>
              <a:rPr lang="en-US" sz="2400" dirty="0">
                <a:solidFill>
                  <a:schemeClr val="bg1"/>
                </a:solidFill>
                <a:latin typeface="Aptos"/>
              </a:rPr>
              <a:t>Governance, Trust and Accountability under GAID</a:t>
            </a:r>
          </a:p>
        </p:txBody>
      </p:sp>
    </p:spTree>
    <p:extLst>
      <p:ext uri="{BB962C8B-B14F-4D97-AF65-F5344CB8AC3E}">
        <p14:creationId xmlns:p14="http://schemas.microsoft.com/office/powerpoint/2010/main" val="3173731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40FE1-9017-41A1-B9BA-3C72ED7D315F}"/>
              </a:ext>
            </a:extLst>
          </p:cNvPr>
          <p:cNvSpPr>
            <a:spLocks noGrp="1"/>
          </p:cNvSpPr>
          <p:nvPr>
            <p:ph type="title"/>
          </p:nvPr>
        </p:nvSpPr>
        <p:spPr/>
        <p:txBody>
          <a:bodyPr/>
          <a:lstStyle/>
          <a:p>
            <a:r>
              <a:rPr lang="en-US" sz="4000" dirty="0">
                <a:latin typeface="Aptos"/>
              </a:rPr>
              <a:t>Outline</a:t>
            </a:r>
          </a:p>
        </p:txBody>
      </p:sp>
      <p:sp>
        <p:nvSpPr>
          <p:cNvPr id="3" name="Content Placeholder 2">
            <a:extLst>
              <a:ext uri="{FF2B5EF4-FFF2-40B4-BE49-F238E27FC236}">
                <a16:creationId xmlns:a16="http://schemas.microsoft.com/office/drawing/2014/main" id="{C09B6C53-2A5D-4974-979C-D4181A4A233D}"/>
              </a:ext>
            </a:extLst>
          </p:cNvPr>
          <p:cNvSpPr>
            <a:spLocks noGrp="1"/>
          </p:cNvSpPr>
          <p:nvPr>
            <p:ph idx="1"/>
          </p:nvPr>
        </p:nvSpPr>
        <p:spPr>
          <a:xfrm>
            <a:off x="1020201" y="2372492"/>
            <a:ext cx="8761412" cy="4134185"/>
          </a:xfrm>
        </p:spPr>
        <p:txBody>
          <a:bodyPr>
            <a:normAutofit fontScale="85000" lnSpcReduction="20000"/>
          </a:bodyPr>
          <a:lstStyle/>
          <a:p>
            <a:r>
              <a:rPr lang="en-US" dirty="0">
                <a:latin typeface="Aptos"/>
              </a:rPr>
              <a:t>What is Data Privacy?</a:t>
            </a:r>
          </a:p>
          <a:p>
            <a:r>
              <a:rPr lang="en-US" dirty="0">
                <a:latin typeface="Aptos"/>
              </a:rPr>
              <a:t>What is Data Protection?</a:t>
            </a:r>
          </a:p>
          <a:p>
            <a:r>
              <a:rPr lang="en-US" dirty="0">
                <a:latin typeface="Aptos"/>
              </a:rPr>
              <a:t>Data Privacy and Protection Culture</a:t>
            </a:r>
          </a:p>
          <a:p>
            <a:r>
              <a:rPr lang="en-US" dirty="0">
                <a:latin typeface="Aptos"/>
              </a:rPr>
              <a:t>Emerging Technologies</a:t>
            </a:r>
          </a:p>
          <a:p>
            <a:r>
              <a:rPr lang="en-US" dirty="0">
                <a:latin typeface="Aptos"/>
              </a:rPr>
              <a:t>Brief Overview of NDPR and NDPA</a:t>
            </a:r>
          </a:p>
          <a:p>
            <a:r>
              <a:rPr lang="en-US" sz="1800" dirty="0">
                <a:latin typeface="Aptos"/>
              </a:rPr>
              <a:t>NDPA General Application and Implementation Directive (GAID)</a:t>
            </a:r>
            <a:endParaRPr lang="en-US" dirty="0">
              <a:latin typeface="Aptos"/>
            </a:endParaRPr>
          </a:p>
          <a:p>
            <a:r>
              <a:rPr lang="en-US" sz="1800" dirty="0">
                <a:latin typeface="Aptos"/>
              </a:rPr>
              <a:t>Key Highlights of GAID 2025</a:t>
            </a:r>
          </a:p>
          <a:p>
            <a:r>
              <a:rPr lang="en-US" dirty="0">
                <a:latin typeface="Aptos"/>
              </a:rPr>
              <a:t>Definition of Terms.</a:t>
            </a:r>
          </a:p>
          <a:p>
            <a:r>
              <a:rPr lang="en-US" dirty="0">
                <a:latin typeface="Aptos"/>
              </a:rPr>
              <a:t>Privacy by Design</a:t>
            </a:r>
          </a:p>
          <a:p>
            <a:r>
              <a:rPr lang="en-US" dirty="0">
                <a:latin typeface="Aptos"/>
              </a:rPr>
              <a:t>Privacy Governance</a:t>
            </a:r>
          </a:p>
          <a:p>
            <a:r>
              <a:rPr lang="en-US" sz="1800" dirty="0">
                <a:latin typeface="Aptos"/>
              </a:rPr>
              <a:t>ISO 27701 Privacy Information Management System (PIMS) Integration</a:t>
            </a:r>
          </a:p>
          <a:p>
            <a:r>
              <a:rPr lang="en-US" dirty="0">
                <a:latin typeface="Aptos"/>
              </a:rPr>
              <a:t>Data Privacy Impact Assessment (DPIA)</a:t>
            </a:r>
          </a:p>
          <a:p>
            <a:r>
              <a:rPr lang="en-US" dirty="0">
                <a:latin typeface="Aptos"/>
              </a:rPr>
              <a:t>Conclusion </a:t>
            </a:r>
          </a:p>
        </p:txBody>
      </p:sp>
    </p:spTree>
    <p:extLst>
      <p:ext uri="{BB962C8B-B14F-4D97-AF65-F5344CB8AC3E}">
        <p14:creationId xmlns:p14="http://schemas.microsoft.com/office/powerpoint/2010/main" val="3273095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105FA-1C27-4B36-9145-6D3E44CDE567}"/>
              </a:ext>
            </a:extLst>
          </p:cNvPr>
          <p:cNvSpPr>
            <a:spLocks noGrp="1"/>
          </p:cNvSpPr>
          <p:nvPr>
            <p:ph type="title"/>
          </p:nvPr>
        </p:nvSpPr>
        <p:spPr/>
        <p:txBody>
          <a:bodyPr/>
          <a:lstStyle/>
          <a:p>
            <a:r>
              <a:rPr lang="en-US" sz="4000" dirty="0">
                <a:latin typeface="Aptos"/>
              </a:rPr>
              <a:t>Data Privacy</a:t>
            </a:r>
          </a:p>
        </p:txBody>
      </p:sp>
      <p:sp>
        <p:nvSpPr>
          <p:cNvPr id="3" name="Content Placeholder 2">
            <a:extLst>
              <a:ext uri="{FF2B5EF4-FFF2-40B4-BE49-F238E27FC236}">
                <a16:creationId xmlns:a16="http://schemas.microsoft.com/office/drawing/2014/main" id="{C60A361C-7AD7-4A84-B915-6C24A61B8B9C}"/>
              </a:ext>
            </a:extLst>
          </p:cNvPr>
          <p:cNvSpPr>
            <a:spLocks noGrp="1"/>
          </p:cNvSpPr>
          <p:nvPr>
            <p:ph idx="1"/>
          </p:nvPr>
        </p:nvSpPr>
        <p:spPr>
          <a:xfrm>
            <a:off x="186011" y="2335312"/>
            <a:ext cx="6147411" cy="4411997"/>
          </a:xfrm>
        </p:spPr>
        <p:txBody>
          <a:bodyPr>
            <a:noAutofit/>
          </a:bodyPr>
          <a:lstStyle/>
          <a:p>
            <a:r>
              <a:rPr lang="en-US" dirty="0">
                <a:solidFill>
                  <a:schemeClr val="tx1"/>
                </a:solidFill>
                <a:latin typeface="Aptos"/>
              </a:rPr>
              <a:t>What is Data Privacy?</a:t>
            </a:r>
          </a:p>
          <a:p>
            <a:pPr lvl="1"/>
            <a:r>
              <a:rPr lang="en-US" sz="1800" b="0" i="0" dirty="0">
                <a:solidFill>
                  <a:schemeClr val="tx1"/>
                </a:solidFill>
                <a:effectLst/>
                <a:latin typeface="Aptos"/>
              </a:rPr>
              <a:t>Data privacy is a guideline for how data should be collected or handled, based on its sensitivity and importance. </a:t>
            </a:r>
          </a:p>
          <a:p>
            <a:pPr lvl="1"/>
            <a:r>
              <a:rPr lang="en-US" sz="1800" b="0" i="0" dirty="0">
                <a:solidFill>
                  <a:schemeClr val="tx1"/>
                </a:solidFill>
                <a:effectLst/>
                <a:latin typeface="Aptos"/>
              </a:rPr>
              <a:t>Data privacy concerns apply to all sensitive information that organizations handle, including that of customers, shareholders, and employees. </a:t>
            </a:r>
          </a:p>
          <a:p>
            <a:pPr lvl="1"/>
            <a:r>
              <a:rPr lang="en-US" sz="1800" dirty="0">
                <a:solidFill>
                  <a:srgbClr val="161616"/>
                </a:solidFill>
                <a:latin typeface="Aptos"/>
              </a:rPr>
              <a:t>Example:</a:t>
            </a:r>
          </a:p>
          <a:p>
            <a:pPr lvl="2"/>
            <a:r>
              <a:rPr lang="en-US" sz="1800" b="0" i="0" dirty="0">
                <a:solidFill>
                  <a:srgbClr val="161616"/>
                </a:solidFill>
                <a:effectLst/>
                <a:latin typeface="Aptos"/>
              </a:rPr>
              <a:t>User Consent Mechanism: An online retailer always gets users’ explicit consent before sharing customer data with its partners.</a:t>
            </a:r>
          </a:p>
          <a:p>
            <a:pPr lvl="2"/>
            <a:r>
              <a:rPr lang="en-US" sz="1800" b="0" i="0" dirty="0">
                <a:solidFill>
                  <a:srgbClr val="161616"/>
                </a:solidFill>
                <a:effectLst/>
                <a:latin typeface="Aptos"/>
              </a:rPr>
              <a:t>Data Anonymization in healthcare</a:t>
            </a:r>
            <a:endParaRPr lang="en-US" sz="1800" dirty="0">
              <a:latin typeface="Aptos"/>
            </a:endParaRPr>
          </a:p>
        </p:txBody>
      </p:sp>
      <p:pic>
        <p:nvPicPr>
          <p:cNvPr id="1026" name="Picture 2">
            <a:extLst>
              <a:ext uri="{FF2B5EF4-FFF2-40B4-BE49-F238E27FC236}">
                <a16:creationId xmlns:a16="http://schemas.microsoft.com/office/drawing/2014/main" id="{6D0920FC-42AF-43B5-835C-0249EDA23B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2230" y="2555374"/>
            <a:ext cx="5074015" cy="3347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7973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5DBB6-6E16-4361-9219-F4E5D46AEBCD}"/>
              </a:ext>
            </a:extLst>
          </p:cNvPr>
          <p:cNvSpPr>
            <a:spLocks noGrp="1"/>
          </p:cNvSpPr>
          <p:nvPr>
            <p:ph type="title"/>
          </p:nvPr>
        </p:nvSpPr>
        <p:spPr/>
        <p:txBody>
          <a:bodyPr/>
          <a:lstStyle/>
          <a:p>
            <a:r>
              <a:rPr lang="en-US" sz="4000" dirty="0">
                <a:latin typeface="Aptos"/>
              </a:rPr>
              <a:t>Data Protection</a:t>
            </a:r>
          </a:p>
        </p:txBody>
      </p:sp>
      <p:sp>
        <p:nvSpPr>
          <p:cNvPr id="3" name="Content Placeholder 2">
            <a:extLst>
              <a:ext uri="{FF2B5EF4-FFF2-40B4-BE49-F238E27FC236}">
                <a16:creationId xmlns:a16="http://schemas.microsoft.com/office/drawing/2014/main" id="{E3CC1DFA-54F5-4ED0-854F-EF9A096A8CD9}"/>
              </a:ext>
            </a:extLst>
          </p:cNvPr>
          <p:cNvSpPr>
            <a:spLocks noGrp="1"/>
          </p:cNvSpPr>
          <p:nvPr>
            <p:ph idx="1"/>
          </p:nvPr>
        </p:nvSpPr>
        <p:spPr>
          <a:xfrm>
            <a:off x="394636" y="2468030"/>
            <a:ext cx="5919537" cy="4269653"/>
          </a:xfrm>
        </p:spPr>
        <p:txBody>
          <a:bodyPr>
            <a:normAutofit/>
          </a:bodyPr>
          <a:lstStyle/>
          <a:p>
            <a:r>
              <a:rPr lang="en-US" dirty="0">
                <a:solidFill>
                  <a:schemeClr val="tx1"/>
                </a:solidFill>
                <a:latin typeface="Aptos"/>
              </a:rPr>
              <a:t>What is Data Protection?</a:t>
            </a:r>
          </a:p>
          <a:p>
            <a:pPr lvl="1"/>
            <a:r>
              <a:rPr lang="en-US" sz="1800" b="0" i="0" dirty="0">
                <a:solidFill>
                  <a:schemeClr val="tx1"/>
                </a:solidFill>
                <a:effectLst/>
                <a:latin typeface="Aptos"/>
              </a:rPr>
              <a:t>Data protection signifies the strategic and procedural steps undertaken to safeguard the privacy, availability, and integrity of sensitive data</a:t>
            </a:r>
            <a:r>
              <a:rPr lang="en-US" sz="1800" dirty="0">
                <a:solidFill>
                  <a:schemeClr val="tx1"/>
                </a:solidFill>
                <a:latin typeface="Aptos"/>
              </a:rPr>
              <a:t>.</a:t>
            </a:r>
            <a:endParaRPr lang="en-US" sz="1800" b="0" i="0" dirty="0">
              <a:solidFill>
                <a:schemeClr val="tx1"/>
              </a:solidFill>
              <a:effectLst/>
              <a:latin typeface="Aptos"/>
            </a:endParaRPr>
          </a:p>
          <a:p>
            <a:pPr lvl="1"/>
            <a:r>
              <a:rPr lang="en-US" sz="1800" b="0" i="0" dirty="0">
                <a:solidFill>
                  <a:schemeClr val="tx1"/>
                </a:solidFill>
                <a:effectLst/>
                <a:latin typeface="Aptos"/>
              </a:rPr>
              <a:t>The primary goal of data protection is not just to safeguard sensitive information but to ensure that it remains accessible and reliable, thus preserving trust and compliance in data-centric operations.</a:t>
            </a:r>
          </a:p>
          <a:p>
            <a:pPr lvl="1"/>
            <a:r>
              <a:rPr lang="en-US" sz="1800" dirty="0">
                <a:solidFill>
                  <a:schemeClr val="tx1"/>
                </a:solidFill>
                <a:latin typeface="Aptos"/>
              </a:rPr>
              <a:t>Examples:</a:t>
            </a:r>
          </a:p>
          <a:p>
            <a:pPr lvl="2"/>
            <a:r>
              <a:rPr lang="en-US" sz="1800" dirty="0">
                <a:solidFill>
                  <a:schemeClr val="tx1"/>
                </a:solidFill>
                <a:latin typeface="Aptos"/>
              </a:rPr>
              <a:t>Data Security, Access Controls, Storage requirements</a:t>
            </a:r>
          </a:p>
          <a:p>
            <a:pPr lvl="2"/>
            <a:endParaRPr lang="en-US" sz="1600" dirty="0">
              <a:solidFill>
                <a:schemeClr val="tx1"/>
              </a:solidFill>
              <a:latin typeface="Aptos"/>
            </a:endParaRPr>
          </a:p>
        </p:txBody>
      </p:sp>
      <p:pic>
        <p:nvPicPr>
          <p:cNvPr id="2050" name="Picture 2" descr="How companies can secure and protect customers' personal data">
            <a:extLst>
              <a:ext uri="{FF2B5EF4-FFF2-40B4-BE49-F238E27FC236}">
                <a16:creationId xmlns:a16="http://schemas.microsoft.com/office/drawing/2014/main" id="{7F35D975-791B-47B8-B230-1B170E8027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3978" y="2707106"/>
            <a:ext cx="5522763" cy="31065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9008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2831A-5AC3-4FA9-9E1C-EC4DE6F73A6B}"/>
              </a:ext>
            </a:extLst>
          </p:cNvPr>
          <p:cNvSpPr>
            <a:spLocks noGrp="1"/>
          </p:cNvSpPr>
          <p:nvPr>
            <p:ph type="title"/>
          </p:nvPr>
        </p:nvSpPr>
        <p:spPr/>
        <p:txBody>
          <a:bodyPr/>
          <a:lstStyle/>
          <a:p>
            <a:r>
              <a:rPr lang="en-US" sz="4000" dirty="0">
                <a:latin typeface="Aptos"/>
              </a:rPr>
              <a:t>Data Privacy and Protection Culture</a:t>
            </a:r>
          </a:p>
        </p:txBody>
      </p:sp>
      <p:sp>
        <p:nvSpPr>
          <p:cNvPr id="3" name="Content Placeholder 2">
            <a:extLst>
              <a:ext uri="{FF2B5EF4-FFF2-40B4-BE49-F238E27FC236}">
                <a16:creationId xmlns:a16="http://schemas.microsoft.com/office/drawing/2014/main" id="{3D7D8450-F0DE-4F62-AF56-25357D4F419E}"/>
              </a:ext>
            </a:extLst>
          </p:cNvPr>
          <p:cNvSpPr>
            <a:spLocks noGrp="1"/>
          </p:cNvSpPr>
          <p:nvPr>
            <p:ph idx="1"/>
          </p:nvPr>
        </p:nvSpPr>
        <p:spPr>
          <a:xfrm>
            <a:off x="1154955" y="2603499"/>
            <a:ext cx="9625340" cy="3729923"/>
          </a:xfrm>
        </p:spPr>
        <p:txBody>
          <a:bodyPr>
            <a:noAutofit/>
          </a:bodyPr>
          <a:lstStyle/>
          <a:p>
            <a:r>
              <a:rPr lang="en-US" dirty="0">
                <a:solidFill>
                  <a:schemeClr val="tx1"/>
                </a:solidFill>
                <a:latin typeface="Aptos"/>
              </a:rPr>
              <a:t>A data privacy and protection culture is the collective mindset, shared values, and daily behaviors within an organization that prioritize the ethical handling, security, and confidentiality of personal data.</a:t>
            </a:r>
          </a:p>
          <a:p>
            <a:r>
              <a:rPr lang="en-US" b="0" i="0" dirty="0">
                <a:solidFill>
                  <a:schemeClr val="tx1"/>
                </a:solidFill>
                <a:effectLst/>
                <a:latin typeface="Aptos"/>
              </a:rPr>
              <a:t>It transforms data protection from a legal checkbox into a proactive, ingrained responsibility, ensuring that employees naturally respect privacy rights and secure data, even when unsupervised. </a:t>
            </a:r>
          </a:p>
          <a:p>
            <a:r>
              <a:rPr lang="en-US" dirty="0">
                <a:solidFill>
                  <a:schemeClr val="tx1"/>
                </a:solidFill>
                <a:latin typeface="Aptos"/>
              </a:rPr>
              <a:t>Few Components of Data Privacy and Protection Culture:</a:t>
            </a:r>
          </a:p>
          <a:p>
            <a:pPr lvl="1"/>
            <a:r>
              <a:rPr lang="en-US" sz="1800" dirty="0">
                <a:solidFill>
                  <a:schemeClr val="tx1"/>
                </a:solidFill>
                <a:latin typeface="Aptos"/>
              </a:rPr>
              <a:t>Shared Responsibility</a:t>
            </a:r>
          </a:p>
          <a:p>
            <a:pPr lvl="1"/>
            <a:r>
              <a:rPr lang="en-US" sz="1800" dirty="0">
                <a:solidFill>
                  <a:schemeClr val="tx1"/>
                </a:solidFill>
                <a:latin typeface="Aptos"/>
              </a:rPr>
              <a:t>Proactive Mindset</a:t>
            </a:r>
          </a:p>
          <a:p>
            <a:pPr lvl="1"/>
            <a:r>
              <a:rPr lang="en-US" sz="1800" dirty="0">
                <a:solidFill>
                  <a:schemeClr val="tx1"/>
                </a:solidFill>
                <a:latin typeface="Aptos"/>
              </a:rPr>
              <a:t>Ethical Handling</a:t>
            </a:r>
          </a:p>
          <a:p>
            <a:pPr lvl="1"/>
            <a:r>
              <a:rPr lang="en-US" sz="1800" dirty="0">
                <a:solidFill>
                  <a:schemeClr val="tx1"/>
                </a:solidFill>
                <a:latin typeface="Aptos"/>
              </a:rPr>
              <a:t>Accountability and Trust</a:t>
            </a:r>
          </a:p>
        </p:txBody>
      </p:sp>
    </p:spTree>
    <p:extLst>
      <p:ext uri="{BB962C8B-B14F-4D97-AF65-F5344CB8AC3E}">
        <p14:creationId xmlns:p14="http://schemas.microsoft.com/office/powerpoint/2010/main" val="3291699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4AB2C-32C2-4A9B-9BE6-0E62849405D8}"/>
              </a:ext>
            </a:extLst>
          </p:cNvPr>
          <p:cNvSpPr>
            <a:spLocks noGrp="1"/>
          </p:cNvSpPr>
          <p:nvPr>
            <p:ph type="title"/>
          </p:nvPr>
        </p:nvSpPr>
        <p:spPr/>
        <p:txBody>
          <a:bodyPr/>
          <a:lstStyle/>
          <a:p>
            <a:r>
              <a:rPr lang="en-US" dirty="0"/>
              <a:t>Emerging Technology</a:t>
            </a:r>
          </a:p>
        </p:txBody>
      </p:sp>
      <p:sp>
        <p:nvSpPr>
          <p:cNvPr id="3" name="Content Placeholder 2">
            <a:extLst>
              <a:ext uri="{FF2B5EF4-FFF2-40B4-BE49-F238E27FC236}">
                <a16:creationId xmlns:a16="http://schemas.microsoft.com/office/drawing/2014/main" id="{C699ADF5-3B6C-496A-B991-198FE5A93154}"/>
              </a:ext>
            </a:extLst>
          </p:cNvPr>
          <p:cNvSpPr>
            <a:spLocks noGrp="1"/>
          </p:cNvSpPr>
          <p:nvPr>
            <p:ph idx="1"/>
          </p:nvPr>
        </p:nvSpPr>
        <p:spPr>
          <a:xfrm>
            <a:off x="379962" y="2401368"/>
            <a:ext cx="6198746" cy="4105310"/>
          </a:xfrm>
        </p:spPr>
        <p:txBody>
          <a:bodyPr>
            <a:normAutofit/>
          </a:bodyPr>
          <a:lstStyle/>
          <a:p>
            <a:r>
              <a:rPr lang="en-US" b="1" i="0" dirty="0">
                <a:solidFill>
                  <a:schemeClr val="tx1"/>
                </a:solidFill>
                <a:effectLst/>
                <a:latin typeface="Aptos"/>
              </a:rPr>
              <a:t>Emerging technology</a:t>
            </a:r>
            <a:r>
              <a:rPr lang="en-US" b="0" i="0" dirty="0">
                <a:solidFill>
                  <a:schemeClr val="tx1"/>
                </a:solidFill>
                <a:effectLst/>
                <a:latin typeface="Aptos"/>
              </a:rPr>
              <a:t> is a term generally used to describe a new technology, but it may also refer to the continuing development of an existing technology.</a:t>
            </a:r>
          </a:p>
          <a:p>
            <a:r>
              <a:rPr lang="en-US" b="0" i="0" dirty="0">
                <a:solidFill>
                  <a:schemeClr val="tx1"/>
                </a:solidFill>
                <a:effectLst/>
                <a:latin typeface="Aptos"/>
              </a:rPr>
              <a:t>They have the potential to significantly change the way we live, work and interact with the world around us.</a:t>
            </a:r>
          </a:p>
          <a:p>
            <a:r>
              <a:rPr lang="en-US" dirty="0">
                <a:solidFill>
                  <a:schemeClr val="tx1"/>
                </a:solidFill>
                <a:latin typeface="Aptos"/>
              </a:rPr>
              <a:t>Examples of Emerging Technologies:</a:t>
            </a:r>
          </a:p>
          <a:p>
            <a:pPr lvl="1"/>
            <a:r>
              <a:rPr lang="en-US" sz="1800" dirty="0">
                <a:solidFill>
                  <a:schemeClr val="tx1"/>
                </a:solidFill>
                <a:latin typeface="Aptos"/>
              </a:rPr>
              <a:t>Artificial Intelligence</a:t>
            </a:r>
          </a:p>
          <a:p>
            <a:pPr lvl="1"/>
            <a:r>
              <a:rPr lang="en-US" sz="1800" dirty="0">
                <a:solidFill>
                  <a:schemeClr val="tx1"/>
                </a:solidFill>
                <a:latin typeface="Aptos"/>
              </a:rPr>
              <a:t>Internet of Things (IoT)</a:t>
            </a:r>
          </a:p>
          <a:p>
            <a:pPr lvl="1"/>
            <a:r>
              <a:rPr lang="en-US" sz="1800" dirty="0">
                <a:solidFill>
                  <a:schemeClr val="tx1"/>
                </a:solidFill>
                <a:latin typeface="Aptos"/>
              </a:rPr>
              <a:t>Blockchain</a:t>
            </a:r>
          </a:p>
          <a:p>
            <a:pPr lvl="1"/>
            <a:r>
              <a:rPr lang="en-US" sz="1800" dirty="0">
                <a:solidFill>
                  <a:schemeClr val="tx1"/>
                </a:solidFill>
                <a:latin typeface="Aptos"/>
              </a:rPr>
              <a:t>Virtual Reality and Augmented Reality.</a:t>
            </a:r>
          </a:p>
          <a:p>
            <a:pPr marL="457200" lvl="1" indent="0">
              <a:buNone/>
            </a:pPr>
            <a:endParaRPr lang="en-US" dirty="0">
              <a:solidFill>
                <a:schemeClr val="tx1"/>
              </a:solidFill>
              <a:latin typeface="Aptos"/>
            </a:endParaRPr>
          </a:p>
          <a:p>
            <a:endParaRPr lang="en-US" dirty="0">
              <a:solidFill>
                <a:schemeClr val="tx1"/>
              </a:solidFill>
              <a:latin typeface="Aptos"/>
            </a:endParaRPr>
          </a:p>
        </p:txBody>
      </p:sp>
      <p:pic>
        <p:nvPicPr>
          <p:cNvPr id="3074" name="Picture 2" descr="5 Emerging Technologies in 2022">
            <a:extLst>
              <a:ext uri="{FF2B5EF4-FFF2-40B4-BE49-F238E27FC236}">
                <a16:creationId xmlns:a16="http://schemas.microsoft.com/office/drawing/2014/main" id="{E0A55746-C14B-4F88-B519-493E2A42C6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1963" y="2964581"/>
            <a:ext cx="4775693" cy="2653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6486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6BA9F-0CBB-411A-9E3B-5F9F8FD94180}"/>
              </a:ext>
            </a:extLst>
          </p:cNvPr>
          <p:cNvSpPr>
            <a:spLocks noGrp="1"/>
          </p:cNvSpPr>
          <p:nvPr>
            <p:ph type="title"/>
          </p:nvPr>
        </p:nvSpPr>
        <p:spPr/>
        <p:txBody>
          <a:bodyPr/>
          <a:lstStyle/>
          <a:p>
            <a:r>
              <a:rPr lang="en-US" sz="4000" dirty="0">
                <a:latin typeface="Aptos"/>
              </a:rPr>
              <a:t>Brief Overview of NDPR and NDPA</a:t>
            </a:r>
          </a:p>
        </p:txBody>
      </p:sp>
      <p:sp>
        <p:nvSpPr>
          <p:cNvPr id="3" name="Content Placeholder 2">
            <a:extLst>
              <a:ext uri="{FF2B5EF4-FFF2-40B4-BE49-F238E27FC236}">
                <a16:creationId xmlns:a16="http://schemas.microsoft.com/office/drawing/2014/main" id="{35882D67-0FEA-4154-AE48-013CC915EF21}"/>
              </a:ext>
            </a:extLst>
          </p:cNvPr>
          <p:cNvSpPr>
            <a:spLocks noGrp="1"/>
          </p:cNvSpPr>
          <p:nvPr>
            <p:ph idx="1"/>
          </p:nvPr>
        </p:nvSpPr>
        <p:spPr>
          <a:xfrm>
            <a:off x="211679" y="2501587"/>
            <a:ext cx="5573104" cy="4356413"/>
          </a:xfrm>
        </p:spPr>
        <p:txBody>
          <a:bodyPr>
            <a:normAutofit/>
          </a:bodyPr>
          <a:lstStyle/>
          <a:p>
            <a:r>
              <a:rPr lang="en-US" dirty="0">
                <a:solidFill>
                  <a:schemeClr val="tx1"/>
                </a:solidFill>
                <a:latin typeface="Aptos"/>
              </a:rPr>
              <a:t>Nigeria Data Protection Regulations (NDPR) was the principal law on data protection in Nigeria.</a:t>
            </a:r>
          </a:p>
          <a:p>
            <a:r>
              <a:rPr lang="en-US" dirty="0">
                <a:solidFill>
                  <a:schemeClr val="tx1"/>
                </a:solidFill>
                <a:latin typeface="Aptos"/>
              </a:rPr>
              <a:t>NDPR was issued in 2019 by the National Information Technology Development Agency (NITDA).</a:t>
            </a:r>
          </a:p>
          <a:p>
            <a:r>
              <a:rPr lang="en-US" dirty="0">
                <a:solidFill>
                  <a:schemeClr val="tx1"/>
                </a:solidFill>
                <a:latin typeface="Aptos"/>
              </a:rPr>
              <a:t>The </a:t>
            </a:r>
            <a:r>
              <a:rPr lang="en-US" b="0" i="0" dirty="0">
                <a:solidFill>
                  <a:schemeClr val="tx1"/>
                </a:solidFill>
                <a:effectLst/>
                <a:latin typeface="Aptos"/>
              </a:rPr>
              <a:t>Nigeria Data Protection Act (NDPA) 2023, signed into law on June 12, 2023, establishes a comprehensive legal framework for data protection, replacing the 2019 Nigeria Data Protection Regulation (NDPR). </a:t>
            </a:r>
          </a:p>
          <a:p>
            <a:r>
              <a:rPr lang="en-US" b="0" i="0" dirty="0">
                <a:solidFill>
                  <a:schemeClr val="tx1"/>
                </a:solidFill>
                <a:effectLst/>
                <a:latin typeface="Aptos"/>
              </a:rPr>
              <a:t> It mandates the creation of the Nigeria Data Protection Commission (NDPC) to regulate data processing and enforce compliance. </a:t>
            </a:r>
            <a:endParaRPr lang="en-US" dirty="0">
              <a:solidFill>
                <a:schemeClr val="tx1"/>
              </a:solidFill>
              <a:latin typeface="Aptos"/>
            </a:endParaRPr>
          </a:p>
        </p:txBody>
      </p:sp>
      <p:pic>
        <p:nvPicPr>
          <p:cNvPr id="4098" name="Picture 2" descr="Transitioning from NDPR to NDPA: Some Good, Bad and Ugly Provisions of the  Newly Enacted Nigeria Data Protection Act 2023 - ITEdgeNews">
            <a:extLst>
              <a:ext uri="{FF2B5EF4-FFF2-40B4-BE49-F238E27FC236}">
                <a16:creationId xmlns:a16="http://schemas.microsoft.com/office/drawing/2014/main" id="{3047E6E7-3585-4AD2-B2F6-BB39A1A8E6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1409" y="2705388"/>
            <a:ext cx="6017393" cy="3008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1338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You Need to Know About GAID 2025 and Data Protection Compliance">
            <a:extLst>
              <a:ext uri="{FF2B5EF4-FFF2-40B4-BE49-F238E27FC236}">
                <a16:creationId xmlns:a16="http://schemas.microsoft.com/office/drawing/2014/main" id="{B8A3C111-3310-4FEA-A53D-2CF551BB9D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9301" y="2523547"/>
            <a:ext cx="4446872" cy="321627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F0CFEDF-50EC-413C-A508-D1AF583FD03C}"/>
              </a:ext>
            </a:extLst>
          </p:cNvPr>
          <p:cNvSpPr>
            <a:spLocks noGrp="1"/>
          </p:cNvSpPr>
          <p:nvPr>
            <p:ph type="title"/>
          </p:nvPr>
        </p:nvSpPr>
        <p:spPr>
          <a:xfrm>
            <a:off x="1127288" y="617532"/>
            <a:ext cx="8761413" cy="1230517"/>
          </a:xfrm>
        </p:spPr>
        <p:txBody>
          <a:bodyPr/>
          <a:lstStyle/>
          <a:p>
            <a:r>
              <a:rPr lang="en-US" sz="4400" dirty="0">
                <a:latin typeface="Aptos"/>
              </a:rPr>
              <a:t>NDPA General Application and Implementation Directive (GAID)</a:t>
            </a:r>
          </a:p>
        </p:txBody>
      </p:sp>
      <p:sp>
        <p:nvSpPr>
          <p:cNvPr id="3" name="Content Placeholder 2">
            <a:extLst>
              <a:ext uri="{FF2B5EF4-FFF2-40B4-BE49-F238E27FC236}">
                <a16:creationId xmlns:a16="http://schemas.microsoft.com/office/drawing/2014/main" id="{EDEB6AB7-A18D-4187-BE30-A5B7A29A312D}"/>
              </a:ext>
            </a:extLst>
          </p:cNvPr>
          <p:cNvSpPr>
            <a:spLocks noGrp="1"/>
          </p:cNvSpPr>
          <p:nvPr>
            <p:ph idx="1"/>
          </p:nvPr>
        </p:nvSpPr>
        <p:spPr>
          <a:xfrm>
            <a:off x="452310" y="2523547"/>
            <a:ext cx="7527033" cy="4166012"/>
          </a:xfrm>
        </p:spPr>
        <p:txBody>
          <a:bodyPr>
            <a:normAutofit/>
          </a:bodyPr>
          <a:lstStyle/>
          <a:p>
            <a:r>
              <a:rPr lang="en-US" i="0" dirty="0">
                <a:solidFill>
                  <a:schemeClr val="tx1"/>
                </a:solidFill>
                <a:effectLst/>
                <a:latin typeface="Aptos"/>
              </a:rPr>
              <a:t>On Thursday, 20 March 2025, the Nigeria Data Protection Commission (the “Commission”) issued the </a:t>
            </a:r>
            <a:r>
              <a:rPr lang="en-US" i="0" strike="noStrike" dirty="0">
                <a:solidFill>
                  <a:schemeClr val="tx1"/>
                </a:solidFill>
                <a:effectLst/>
                <a:latin typeface="Aptos"/>
              </a:rPr>
              <a:t>Nigeria Data Protection Act – General Application and Implementation Directive </a:t>
            </a:r>
            <a:r>
              <a:rPr lang="en-US" i="0" dirty="0">
                <a:solidFill>
                  <a:schemeClr val="tx1"/>
                </a:solidFill>
                <a:effectLst/>
                <a:latin typeface="Aptos"/>
              </a:rPr>
              <a:t> (“GAID”) pursuant to its powers under the Nigeria Data Protection Act 2023 (“NDPA”).</a:t>
            </a:r>
          </a:p>
          <a:p>
            <a:r>
              <a:rPr lang="en-US" b="0" i="0" dirty="0">
                <a:solidFill>
                  <a:srgbClr val="2F2F2F"/>
                </a:solidFill>
                <a:effectLst/>
                <a:latin typeface="Frutiger LT Std"/>
              </a:rPr>
              <a:t>The GAID seeks to enhance the understanding, implementation and effectiveness of the NDPA and is divided into 52 Articles and 10 Schedules.</a:t>
            </a:r>
          </a:p>
          <a:p>
            <a:r>
              <a:rPr lang="en-US" b="0" i="0" dirty="0">
                <a:solidFill>
                  <a:srgbClr val="2F2F2F"/>
                </a:solidFill>
                <a:effectLst/>
                <a:latin typeface="Frutiger LT Std"/>
              </a:rPr>
              <a:t>By virtue of Article 3(3) of the GAID, the Nigeria Data Protection Regulation (NDPR) 2019 (and consequently the NDPR Implementation Framework 2020 ) will cease to be operational as data protection regulation.</a:t>
            </a:r>
          </a:p>
          <a:p>
            <a:r>
              <a:rPr lang="en-US" b="0" i="0" dirty="0">
                <a:solidFill>
                  <a:srgbClr val="2F2F2F"/>
                </a:solidFill>
                <a:effectLst/>
                <a:latin typeface="Frutiger LT Std"/>
              </a:rPr>
              <a:t>All acts carried out during their subsistence, however, will remain valid. </a:t>
            </a:r>
            <a:endParaRPr lang="en-US" sz="1800" dirty="0">
              <a:latin typeface="Aptos"/>
            </a:endParaRPr>
          </a:p>
        </p:txBody>
      </p:sp>
    </p:spTree>
    <p:extLst>
      <p:ext uri="{BB962C8B-B14F-4D97-AF65-F5344CB8AC3E}">
        <p14:creationId xmlns:p14="http://schemas.microsoft.com/office/powerpoint/2010/main" val="2024080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D06E4-41D3-4844-95DF-6A4F2598342F}"/>
              </a:ext>
            </a:extLst>
          </p:cNvPr>
          <p:cNvSpPr>
            <a:spLocks noGrp="1"/>
          </p:cNvSpPr>
          <p:nvPr>
            <p:ph type="title"/>
          </p:nvPr>
        </p:nvSpPr>
        <p:spPr/>
        <p:txBody>
          <a:bodyPr/>
          <a:lstStyle/>
          <a:p>
            <a:r>
              <a:rPr lang="en-US" sz="4000" dirty="0">
                <a:latin typeface="Aptos"/>
              </a:rPr>
              <a:t>General Compliance of GAID 2025</a:t>
            </a:r>
          </a:p>
        </p:txBody>
      </p:sp>
      <p:sp>
        <p:nvSpPr>
          <p:cNvPr id="3" name="Content Placeholder 2">
            <a:extLst>
              <a:ext uri="{FF2B5EF4-FFF2-40B4-BE49-F238E27FC236}">
                <a16:creationId xmlns:a16="http://schemas.microsoft.com/office/drawing/2014/main" id="{EBBBEA76-907A-4086-A1B4-0E32C9C18CCC}"/>
              </a:ext>
            </a:extLst>
          </p:cNvPr>
          <p:cNvSpPr>
            <a:spLocks noGrp="1"/>
          </p:cNvSpPr>
          <p:nvPr>
            <p:ph idx="1"/>
          </p:nvPr>
        </p:nvSpPr>
        <p:spPr>
          <a:xfrm>
            <a:off x="798820" y="2359303"/>
            <a:ext cx="10568616" cy="4253251"/>
          </a:xfrm>
        </p:spPr>
        <p:txBody>
          <a:bodyPr>
            <a:noAutofit/>
          </a:bodyPr>
          <a:lstStyle/>
          <a:p>
            <a:r>
              <a:rPr lang="en-US" dirty="0">
                <a:solidFill>
                  <a:schemeClr val="tx1"/>
                </a:solidFill>
                <a:latin typeface="Aptos"/>
              </a:rPr>
              <a:t>Compliance Measures  by Data Controllers and Data Processors (DCs/DPs):</a:t>
            </a:r>
          </a:p>
          <a:p>
            <a:pPr lvl="1"/>
            <a:r>
              <a:rPr lang="en-US" sz="1800" i="0" dirty="0">
                <a:solidFill>
                  <a:schemeClr val="tx1"/>
                </a:solidFill>
                <a:effectLst/>
                <a:latin typeface="Aptos"/>
              </a:rPr>
              <a:t>twenty-three (23) key measures to be undertaken by DCs/DPs</a:t>
            </a:r>
          </a:p>
          <a:p>
            <a:pPr lvl="1"/>
            <a:r>
              <a:rPr lang="en-US" sz="1800" i="0" dirty="0">
                <a:solidFill>
                  <a:schemeClr val="tx1"/>
                </a:solidFill>
                <a:effectLst/>
                <a:latin typeface="Aptos"/>
              </a:rPr>
              <a:t>registration as a DC/DP of major importance (“DCPMIs”);</a:t>
            </a:r>
          </a:p>
          <a:p>
            <a:pPr lvl="1"/>
            <a:r>
              <a:rPr lang="en-US" sz="1800" i="0" dirty="0">
                <a:solidFill>
                  <a:schemeClr val="tx1"/>
                </a:solidFill>
                <a:effectLst/>
                <a:latin typeface="Aptos"/>
              </a:rPr>
              <a:t>conduct of annual compliance audit by DCPMIs of Ultra-High Level and Extra-High Level before the 31</a:t>
            </a:r>
            <a:r>
              <a:rPr lang="en-US" sz="1800" i="1" dirty="0">
                <a:solidFill>
                  <a:schemeClr val="tx1"/>
                </a:solidFill>
                <a:effectLst/>
                <a:latin typeface="Aptos"/>
              </a:rPr>
              <a:t>st</a:t>
            </a:r>
            <a:r>
              <a:rPr lang="en-US" sz="1800" i="0" dirty="0">
                <a:solidFill>
                  <a:schemeClr val="tx1"/>
                </a:solidFill>
                <a:effectLst/>
                <a:latin typeface="Aptos"/>
              </a:rPr>
              <a:t> of March each year</a:t>
            </a:r>
            <a:r>
              <a:rPr lang="en-US" sz="1800" dirty="0">
                <a:solidFill>
                  <a:schemeClr val="tx1"/>
                </a:solidFill>
                <a:latin typeface="Aptos"/>
              </a:rPr>
              <a:t>;</a:t>
            </a:r>
          </a:p>
          <a:p>
            <a:pPr lvl="1"/>
            <a:r>
              <a:rPr lang="en-US" sz="1800" i="0" dirty="0">
                <a:solidFill>
                  <a:schemeClr val="tx1"/>
                </a:solidFill>
                <a:effectLst/>
                <a:latin typeface="Aptos"/>
              </a:rPr>
              <a:t>maintenance of semi-annual data protection reports which are to contain an analysis of data processing within six (6) months;</a:t>
            </a:r>
          </a:p>
          <a:p>
            <a:pPr lvl="1"/>
            <a:r>
              <a:rPr lang="en-US" sz="1800" dirty="0">
                <a:solidFill>
                  <a:schemeClr val="tx1"/>
                </a:solidFill>
                <a:latin typeface="Aptos"/>
              </a:rPr>
              <a:t>Appointment of Data Protection Officer (DPO).</a:t>
            </a:r>
          </a:p>
          <a:p>
            <a:r>
              <a:rPr lang="en-US" dirty="0">
                <a:solidFill>
                  <a:schemeClr val="tx1"/>
                </a:solidFill>
                <a:latin typeface="Aptos"/>
              </a:rPr>
              <a:t>Compliance Audit Returns</a:t>
            </a:r>
          </a:p>
          <a:p>
            <a:r>
              <a:rPr lang="en-US" i="0" dirty="0">
                <a:solidFill>
                  <a:schemeClr val="tx1"/>
                </a:solidFill>
                <a:effectLst/>
                <a:latin typeface="Aptos"/>
              </a:rPr>
              <a:t>Assessment on the Reliance on Each Basis of Legal Processing</a:t>
            </a:r>
          </a:p>
          <a:p>
            <a:r>
              <a:rPr lang="en-US" i="0" dirty="0">
                <a:solidFill>
                  <a:schemeClr val="tx1"/>
                </a:solidFill>
                <a:effectLst/>
                <a:latin typeface="Aptos"/>
              </a:rPr>
              <a:t>Introduction of the Data Subjects’ Notice to Address Grievance (“SNAG”)</a:t>
            </a:r>
            <a:endParaRPr lang="en-US" dirty="0">
              <a:solidFill>
                <a:schemeClr val="tx1"/>
              </a:solidFill>
              <a:latin typeface="Aptos"/>
            </a:endParaRPr>
          </a:p>
        </p:txBody>
      </p:sp>
    </p:spTree>
    <p:extLst>
      <p:ext uri="{BB962C8B-B14F-4D97-AF65-F5344CB8AC3E}">
        <p14:creationId xmlns:p14="http://schemas.microsoft.com/office/powerpoint/2010/main" val="483275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What is Personally Identifiable Information (PII)? – Data Privacy Manager">
            <a:extLst>
              <a:ext uri="{FF2B5EF4-FFF2-40B4-BE49-F238E27FC236}">
                <a16:creationId xmlns:a16="http://schemas.microsoft.com/office/drawing/2014/main" id="{5424484D-C333-4D02-BF16-F33F309B3B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277" y="2381698"/>
            <a:ext cx="5837723" cy="350263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8BA8A2B-84A9-4638-BC98-E561E524FBFF}"/>
              </a:ext>
            </a:extLst>
          </p:cNvPr>
          <p:cNvSpPr>
            <a:spLocks noGrp="1"/>
          </p:cNvSpPr>
          <p:nvPr>
            <p:ph type="title"/>
          </p:nvPr>
        </p:nvSpPr>
        <p:spPr/>
        <p:txBody>
          <a:bodyPr/>
          <a:lstStyle/>
          <a:p>
            <a:r>
              <a:rPr lang="en-US" sz="4000" dirty="0">
                <a:latin typeface="Aptos"/>
              </a:rPr>
              <a:t>Definition of Terms</a:t>
            </a:r>
          </a:p>
        </p:txBody>
      </p:sp>
      <p:sp>
        <p:nvSpPr>
          <p:cNvPr id="3" name="Content Placeholder 2">
            <a:extLst>
              <a:ext uri="{FF2B5EF4-FFF2-40B4-BE49-F238E27FC236}">
                <a16:creationId xmlns:a16="http://schemas.microsoft.com/office/drawing/2014/main" id="{5D8B47A0-9B95-46AF-B5AC-C70224409FD9}"/>
              </a:ext>
            </a:extLst>
          </p:cNvPr>
          <p:cNvSpPr>
            <a:spLocks noGrp="1"/>
          </p:cNvSpPr>
          <p:nvPr>
            <p:ph idx="1"/>
          </p:nvPr>
        </p:nvSpPr>
        <p:spPr>
          <a:xfrm>
            <a:off x="5703832" y="2381698"/>
            <a:ext cx="6229891" cy="4370424"/>
          </a:xfrm>
        </p:spPr>
        <p:txBody>
          <a:bodyPr>
            <a:normAutofit/>
          </a:bodyPr>
          <a:lstStyle/>
          <a:p>
            <a:r>
              <a:rPr lang="en-US" sz="2400" dirty="0">
                <a:solidFill>
                  <a:schemeClr val="tx1"/>
                </a:solidFill>
                <a:latin typeface="Aptos"/>
              </a:rPr>
              <a:t>Data Subject</a:t>
            </a:r>
            <a:r>
              <a:rPr lang="en-US" dirty="0">
                <a:solidFill>
                  <a:schemeClr val="tx1"/>
                </a:solidFill>
                <a:latin typeface="Aptos"/>
              </a:rPr>
              <a:t>: </a:t>
            </a:r>
            <a:r>
              <a:rPr lang="en-US" sz="2400" i="0" dirty="0">
                <a:solidFill>
                  <a:srgbClr val="1D242A"/>
                </a:solidFill>
                <a:effectLst/>
                <a:latin typeface="Aptos"/>
              </a:rPr>
              <a:t>Data Subject' is defined as an identifiable natural person whose personal data is being collected, held or processed.  </a:t>
            </a:r>
            <a:r>
              <a:rPr lang="en-US" sz="2400" dirty="0">
                <a:solidFill>
                  <a:schemeClr val="tx1"/>
                </a:solidFill>
                <a:effectLst/>
                <a:latin typeface="Aptos"/>
                <a:ea typeface="Aptos"/>
                <a:cs typeface="Times New Roman" panose="02020603050405020304" pitchFamily="18" charset="0"/>
              </a:rPr>
              <a:t>(e.g., An energy customer with a smart meter; an employee at a refinery).</a:t>
            </a:r>
          </a:p>
          <a:p>
            <a:r>
              <a:rPr lang="en-US" sz="2400" dirty="0">
                <a:solidFill>
                  <a:schemeClr val="tx1"/>
                </a:solidFill>
                <a:latin typeface="Aptos"/>
                <a:cs typeface="Times New Roman" panose="02020603050405020304" pitchFamily="18" charset="0"/>
              </a:rPr>
              <a:t>Personal Data: </a:t>
            </a:r>
            <a:r>
              <a:rPr lang="en-US" sz="2400" b="0" i="0" dirty="0">
                <a:solidFill>
                  <a:schemeClr val="tx1"/>
                </a:solidFill>
                <a:effectLst/>
                <a:latin typeface="Inter"/>
              </a:rPr>
              <a:t>Personal data is any information that relates to an identified or identifiable living individual (data subject).</a:t>
            </a:r>
            <a:endParaRPr lang="en-US" sz="2400" dirty="0">
              <a:solidFill>
                <a:schemeClr val="tx1"/>
              </a:solidFill>
              <a:effectLst/>
              <a:latin typeface="Aptos"/>
              <a:ea typeface="Aptos"/>
              <a:cs typeface="Times New Roman" panose="02020603050405020304" pitchFamily="18" charset="0"/>
            </a:endParaRPr>
          </a:p>
          <a:p>
            <a:r>
              <a:rPr lang="en-US" sz="2400" dirty="0">
                <a:solidFill>
                  <a:schemeClr val="tx1"/>
                </a:solidFill>
                <a:latin typeface="Aptos"/>
                <a:cs typeface="Times New Roman" panose="02020603050405020304" pitchFamily="18" charset="0"/>
              </a:rPr>
              <a:t>PII (Personally Identifiable Information): </a:t>
            </a:r>
            <a:r>
              <a:rPr lang="en-US" sz="2400" kern="100" dirty="0">
                <a:solidFill>
                  <a:schemeClr val="tx1"/>
                </a:solidFill>
                <a:effectLst/>
                <a:latin typeface="Aptos"/>
                <a:ea typeface="Aptos"/>
                <a:cs typeface="Times New Roman" panose="02020603050405020304" pitchFamily="18" charset="0"/>
              </a:rPr>
              <a:t>Specific identifiers that can distinguish an individual (NIN, BVN, Biometrics).</a:t>
            </a:r>
          </a:p>
        </p:txBody>
      </p:sp>
    </p:spTree>
    <p:extLst>
      <p:ext uri="{BB962C8B-B14F-4D97-AF65-F5344CB8AC3E}">
        <p14:creationId xmlns:p14="http://schemas.microsoft.com/office/powerpoint/2010/main" val="954217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Data Processor and Controller: GDPR Responsibilities">
            <a:extLst>
              <a:ext uri="{FF2B5EF4-FFF2-40B4-BE49-F238E27FC236}">
                <a16:creationId xmlns:a16="http://schemas.microsoft.com/office/drawing/2014/main" id="{26B139F6-C0F9-4B65-8917-8C36E225DB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8849" y="2983831"/>
            <a:ext cx="5248618" cy="301270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30587C1-A26A-4AC7-B871-4AD9A2BF9553}"/>
              </a:ext>
            </a:extLst>
          </p:cNvPr>
          <p:cNvSpPr>
            <a:spLocks noGrp="1"/>
          </p:cNvSpPr>
          <p:nvPr>
            <p:ph type="title"/>
          </p:nvPr>
        </p:nvSpPr>
        <p:spPr/>
        <p:txBody>
          <a:bodyPr/>
          <a:lstStyle/>
          <a:p>
            <a:r>
              <a:rPr lang="en-US" sz="4000" dirty="0">
                <a:latin typeface="Aptos"/>
              </a:rPr>
              <a:t>Definition of Terms</a:t>
            </a:r>
          </a:p>
        </p:txBody>
      </p:sp>
      <p:sp>
        <p:nvSpPr>
          <p:cNvPr id="3" name="Content Placeholder 2">
            <a:extLst>
              <a:ext uri="{FF2B5EF4-FFF2-40B4-BE49-F238E27FC236}">
                <a16:creationId xmlns:a16="http://schemas.microsoft.com/office/drawing/2014/main" id="{5437BEFD-7659-4D25-872D-8B1C4A52CB3B}"/>
              </a:ext>
            </a:extLst>
          </p:cNvPr>
          <p:cNvSpPr>
            <a:spLocks noGrp="1"/>
          </p:cNvSpPr>
          <p:nvPr>
            <p:ph idx="1"/>
          </p:nvPr>
        </p:nvSpPr>
        <p:spPr>
          <a:xfrm>
            <a:off x="231535" y="2190858"/>
            <a:ext cx="6670385" cy="4591385"/>
          </a:xfrm>
        </p:spPr>
        <p:txBody>
          <a:bodyPr>
            <a:noAutofit/>
          </a:bodyPr>
          <a:lstStyle/>
          <a:p>
            <a:r>
              <a:rPr lang="en-US" dirty="0">
                <a:latin typeface="Aptos"/>
              </a:rPr>
              <a:t>Data Controllers:</a:t>
            </a:r>
          </a:p>
          <a:p>
            <a:pPr lvl="1"/>
            <a:r>
              <a:rPr lang="en-US" sz="1800" dirty="0">
                <a:latin typeface="Aptos"/>
              </a:rPr>
              <a:t>Determines the “Why” and “How”.</a:t>
            </a:r>
          </a:p>
          <a:p>
            <a:pPr lvl="1"/>
            <a:r>
              <a:rPr lang="en-US" sz="1800" dirty="0">
                <a:latin typeface="Aptos"/>
              </a:rPr>
              <a:t>Data ‘controller’ means the natural or legal person, public authority, agency or other body which, alone or jointly with others, determines the purposes and means of the processing of personal data.</a:t>
            </a:r>
          </a:p>
          <a:p>
            <a:pPr lvl="1"/>
            <a:r>
              <a:rPr lang="en-US" sz="1800" dirty="0">
                <a:latin typeface="Aptos"/>
              </a:rPr>
              <a:t>Example; an energy data collecting billing data.</a:t>
            </a:r>
          </a:p>
          <a:p>
            <a:r>
              <a:rPr lang="en-US" dirty="0">
                <a:latin typeface="Aptos"/>
              </a:rPr>
              <a:t>Data Processors:</a:t>
            </a:r>
          </a:p>
          <a:p>
            <a:pPr lvl="1"/>
            <a:r>
              <a:rPr lang="en-US" sz="1800" dirty="0">
                <a:latin typeface="Aptos"/>
              </a:rPr>
              <a:t>Acts on behalf of the controller.</a:t>
            </a:r>
          </a:p>
          <a:p>
            <a:pPr lvl="1"/>
            <a:r>
              <a:rPr lang="en-US" sz="1800" dirty="0">
                <a:latin typeface="Aptos"/>
              </a:rPr>
              <a:t>Data ‘processor’ means a natural or legal person, public authority, agency or other body which processes personal data on behalf of the controller. </a:t>
            </a:r>
          </a:p>
          <a:p>
            <a:pPr lvl="1"/>
            <a:r>
              <a:rPr lang="en-US" sz="1800" dirty="0">
                <a:latin typeface="Aptos"/>
              </a:rPr>
              <a:t>Example; a SaaS company managing the billing software.</a:t>
            </a:r>
          </a:p>
        </p:txBody>
      </p:sp>
    </p:spTree>
    <p:extLst>
      <p:ext uri="{BB962C8B-B14F-4D97-AF65-F5344CB8AC3E}">
        <p14:creationId xmlns:p14="http://schemas.microsoft.com/office/powerpoint/2010/main" val="1178940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6BF09-A43C-4CA8-B5FE-CA3B1AB46A8B}"/>
              </a:ext>
            </a:extLst>
          </p:cNvPr>
          <p:cNvSpPr>
            <a:spLocks noGrp="1"/>
          </p:cNvSpPr>
          <p:nvPr>
            <p:ph type="title"/>
          </p:nvPr>
        </p:nvSpPr>
        <p:spPr>
          <a:xfrm>
            <a:off x="1106826" y="741526"/>
            <a:ext cx="8761413" cy="1131992"/>
          </a:xfrm>
        </p:spPr>
        <p:txBody>
          <a:bodyPr/>
          <a:lstStyle/>
          <a:p>
            <a:r>
              <a:rPr lang="en-US" sz="4000" dirty="0">
                <a:latin typeface="Aptos"/>
              </a:rPr>
              <a:t>Privacy by Design</a:t>
            </a:r>
          </a:p>
        </p:txBody>
      </p:sp>
      <p:sp>
        <p:nvSpPr>
          <p:cNvPr id="3" name="Content Placeholder 2">
            <a:extLst>
              <a:ext uri="{FF2B5EF4-FFF2-40B4-BE49-F238E27FC236}">
                <a16:creationId xmlns:a16="http://schemas.microsoft.com/office/drawing/2014/main" id="{B79AAAC4-64E9-42F9-860B-F4BD6BBB52AD}"/>
              </a:ext>
            </a:extLst>
          </p:cNvPr>
          <p:cNvSpPr>
            <a:spLocks noGrp="1"/>
          </p:cNvSpPr>
          <p:nvPr>
            <p:ph idx="1"/>
          </p:nvPr>
        </p:nvSpPr>
        <p:spPr>
          <a:xfrm>
            <a:off x="438011" y="2506662"/>
            <a:ext cx="6085573" cy="4351338"/>
          </a:xfrm>
        </p:spPr>
        <p:txBody>
          <a:bodyPr>
            <a:normAutofit fontScale="92500" lnSpcReduction="20000"/>
          </a:bodyPr>
          <a:lstStyle/>
          <a:p>
            <a:pPr marL="0" marR="0">
              <a:lnSpc>
                <a:spcPct val="115000"/>
              </a:lnSpc>
              <a:spcBef>
                <a:spcPts val="0"/>
              </a:spcBef>
              <a:spcAft>
                <a:spcPts val="800"/>
              </a:spcAft>
            </a:pPr>
            <a:r>
              <a:rPr lang="en-US" sz="2600" kern="100" dirty="0">
                <a:effectLst/>
                <a:latin typeface="Aptos"/>
                <a:ea typeface="Aptos"/>
                <a:cs typeface="Times New Roman" panose="02020603050405020304" pitchFamily="18" charset="0"/>
              </a:rPr>
              <a:t>Privacy by Design: </a:t>
            </a:r>
            <a:r>
              <a:rPr lang="en-US" sz="2600" dirty="0">
                <a:latin typeface="Aptos"/>
              </a:rPr>
              <a:t>is a proactive framework developed by Dr. Ann </a:t>
            </a:r>
            <a:r>
              <a:rPr lang="en-US" sz="2600" dirty="0" err="1">
                <a:latin typeface="Aptos"/>
              </a:rPr>
              <a:t>Cavoukian</a:t>
            </a:r>
            <a:r>
              <a:rPr lang="en-US" sz="2600" dirty="0">
                <a:latin typeface="Aptos"/>
              </a:rPr>
              <a:t> that integrates data protection into the architecture of technologies from the outset, rather than as an afterthought</a:t>
            </a:r>
            <a:r>
              <a:rPr lang="en-US" sz="2600" dirty="0">
                <a:solidFill>
                  <a:srgbClr val="E6E8F0"/>
                </a:solidFill>
                <a:latin typeface="Aptos"/>
              </a:rPr>
              <a:t>.</a:t>
            </a:r>
          </a:p>
          <a:p>
            <a:pPr marL="0" marR="0">
              <a:lnSpc>
                <a:spcPct val="115000"/>
              </a:lnSpc>
              <a:spcBef>
                <a:spcPts val="0"/>
              </a:spcBef>
              <a:spcAft>
                <a:spcPts val="800"/>
              </a:spcAft>
            </a:pPr>
            <a:r>
              <a:rPr lang="en-US" sz="2600" b="0" i="0" dirty="0">
                <a:solidFill>
                  <a:srgbClr val="333333"/>
                </a:solidFill>
                <a:effectLst/>
                <a:latin typeface="Aptos"/>
              </a:rPr>
              <a:t>Privacy by Design means nothing more than “data protection through technology design.” Behind this is the thought that data protection in data processing procedures is best adhered to when it is already integrated in the technology when created. </a:t>
            </a:r>
            <a:endParaRPr lang="en-US" sz="2600" kern="100" dirty="0">
              <a:effectLst/>
              <a:latin typeface="Aptos"/>
              <a:ea typeface="Aptos"/>
              <a:cs typeface="Times New Roman" panose="02020603050405020304" pitchFamily="18" charset="0"/>
            </a:endParaRPr>
          </a:p>
          <a:p>
            <a:pPr marL="0" marR="0">
              <a:lnSpc>
                <a:spcPct val="115000"/>
              </a:lnSpc>
              <a:spcBef>
                <a:spcPts val="0"/>
              </a:spcBef>
              <a:spcAft>
                <a:spcPts val="800"/>
              </a:spcAft>
            </a:pPr>
            <a:endParaRPr lang="en-US" sz="2400" kern="100" dirty="0">
              <a:latin typeface="Aptos"/>
              <a:ea typeface="Aptos"/>
              <a:cs typeface="Times New Roman" panose="02020603050405020304" pitchFamily="18" charset="0"/>
            </a:endParaRPr>
          </a:p>
          <a:p>
            <a:pPr marL="0" marR="0">
              <a:lnSpc>
                <a:spcPct val="115000"/>
              </a:lnSpc>
              <a:spcBef>
                <a:spcPts val="0"/>
              </a:spcBef>
              <a:spcAft>
                <a:spcPts val="800"/>
              </a:spcAft>
            </a:pPr>
            <a:endParaRPr lang="en-US" sz="2400" kern="100" dirty="0">
              <a:effectLst/>
              <a:latin typeface="Aptos"/>
              <a:ea typeface="Aptos"/>
              <a:cs typeface="Times New Roman" panose="02020603050405020304" pitchFamily="18" charset="0"/>
            </a:endParaRPr>
          </a:p>
          <a:p>
            <a:pPr marL="0" marR="0" indent="0">
              <a:lnSpc>
                <a:spcPct val="115000"/>
              </a:lnSpc>
              <a:spcBef>
                <a:spcPts val="0"/>
              </a:spcBef>
              <a:spcAft>
                <a:spcPts val="800"/>
              </a:spcAft>
              <a:buNone/>
            </a:pPr>
            <a:endParaRPr lang="en-US" sz="2400" kern="100" dirty="0">
              <a:effectLst/>
              <a:latin typeface="Aptos"/>
              <a:ea typeface="Aptos"/>
              <a:cs typeface="Times New Roman" panose="02020603050405020304" pitchFamily="18" charset="0"/>
            </a:endParaRPr>
          </a:p>
          <a:p>
            <a:endParaRPr lang="en-US" dirty="0"/>
          </a:p>
        </p:txBody>
      </p:sp>
      <p:pic>
        <p:nvPicPr>
          <p:cNvPr id="5124" name="Picture 4" descr="Benefits of Privacy by Design: Privacy Standardization for the Future -  CrossCountry Consulting">
            <a:extLst>
              <a:ext uri="{FF2B5EF4-FFF2-40B4-BE49-F238E27FC236}">
                <a16:creationId xmlns:a16="http://schemas.microsoft.com/office/drawing/2014/main" id="{17E09B75-CB59-4BCC-BCD1-F2B59526F3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1035" y="2364407"/>
            <a:ext cx="4782954"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6355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CBB43-F76C-4E8C-9EFB-95E63FE01A1F}"/>
              </a:ext>
            </a:extLst>
          </p:cNvPr>
          <p:cNvSpPr>
            <a:spLocks noGrp="1"/>
          </p:cNvSpPr>
          <p:nvPr>
            <p:ph type="title"/>
          </p:nvPr>
        </p:nvSpPr>
        <p:spPr>
          <a:xfrm>
            <a:off x="616818" y="552640"/>
            <a:ext cx="10515600" cy="1284943"/>
          </a:xfrm>
        </p:spPr>
        <p:txBody>
          <a:bodyPr/>
          <a:lstStyle/>
          <a:p>
            <a:r>
              <a:rPr lang="en-US" sz="4000" dirty="0">
                <a:latin typeface="Aptos"/>
              </a:rPr>
              <a:t>Privacy Governance</a:t>
            </a:r>
          </a:p>
        </p:txBody>
      </p:sp>
      <p:sp>
        <p:nvSpPr>
          <p:cNvPr id="3" name="Content Placeholder 2">
            <a:extLst>
              <a:ext uri="{FF2B5EF4-FFF2-40B4-BE49-F238E27FC236}">
                <a16:creationId xmlns:a16="http://schemas.microsoft.com/office/drawing/2014/main" id="{99B9100D-4342-47A6-8740-17E9BA30CA3C}"/>
              </a:ext>
            </a:extLst>
          </p:cNvPr>
          <p:cNvSpPr>
            <a:spLocks noGrp="1"/>
          </p:cNvSpPr>
          <p:nvPr>
            <p:ph idx="1"/>
          </p:nvPr>
        </p:nvSpPr>
        <p:spPr>
          <a:xfrm>
            <a:off x="838199" y="2325951"/>
            <a:ext cx="10827619" cy="4430983"/>
          </a:xfrm>
        </p:spPr>
        <p:txBody>
          <a:bodyPr>
            <a:normAutofit fontScale="92500" lnSpcReduction="10000"/>
          </a:bodyPr>
          <a:lstStyle/>
          <a:p>
            <a:r>
              <a:rPr lang="en-US" sz="2000" b="0" i="0" dirty="0">
                <a:solidFill>
                  <a:schemeClr val="tx1"/>
                </a:solidFill>
                <a:effectLst/>
                <a:latin typeface="Aptos"/>
              </a:rPr>
              <a:t>Privacy governance is a structured set of guidelines, principles, policies, and processes that a business establishes to ensure that personal data (both customer and employee) is properly handled and protected.</a:t>
            </a:r>
          </a:p>
          <a:p>
            <a:r>
              <a:rPr lang="en-US" sz="2000" dirty="0">
                <a:solidFill>
                  <a:schemeClr val="tx1"/>
                </a:solidFill>
                <a:latin typeface="Aptos"/>
              </a:rPr>
              <a:t>Governance is also a matter of ethics.</a:t>
            </a:r>
          </a:p>
          <a:p>
            <a:r>
              <a:rPr lang="en-US" sz="2000" dirty="0">
                <a:solidFill>
                  <a:schemeClr val="tx1"/>
                </a:solidFill>
                <a:latin typeface="Aptos"/>
              </a:rPr>
              <a:t>Core features of Governance Include:</a:t>
            </a:r>
          </a:p>
          <a:p>
            <a:pPr lvl="1"/>
            <a:r>
              <a:rPr lang="en-US" sz="2000" b="0" i="0" dirty="0">
                <a:solidFill>
                  <a:schemeClr val="tx1"/>
                </a:solidFill>
                <a:effectLst/>
                <a:latin typeface="Aptos"/>
              </a:rPr>
              <a:t>An appointed person who is responsible for accountability and oversight; e.g., a data protection officer (DPO) or privacy program manager</a:t>
            </a:r>
          </a:p>
          <a:p>
            <a:pPr lvl="1"/>
            <a:r>
              <a:rPr lang="en-US" sz="2000" b="0" i="0" dirty="0">
                <a:solidFill>
                  <a:schemeClr val="tx1"/>
                </a:solidFill>
                <a:effectLst/>
                <a:latin typeface="Aptos"/>
              </a:rPr>
              <a:t>A policy framework</a:t>
            </a:r>
          </a:p>
          <a:p>
            <a:pPr lvl="1"/>
            <a:r>
              <a:rPr lang="en-US" sz="2000" b="0" i="0" dirty="0">
                <a:solidFill>
                  <a:schemeClr val="tx1"/>
                </a:solidFill>
                <a:effectLst/>
                <a:latin typeface="Aptos"/>
              </a:rPr>
              <a:t>A policy framework</a:t>
            </a:r>
          </a:p>
          <a:p>
            <a:pPr lvl="1"/>
            <a:r>
              <a:rPr lang="en-US" sz="2000" b="0" i="0" dirty="0">
                <a:solidFill>
                  <a:schemeClr val="tx1"/>
                </a:solidFill>
                <a:effectLst/>
                <a:latin typeface="Aptos"/>
              </a:rPr>
              <a:t>Data subject rights management</a:t>
            </a:r>
          </a:p>
          <a:p>
            <a:pPr lvl="1"/>
            <a:r>
              <a:rPr lang="en-US" sz="2000" b="0" i="0" dirty="0">
                <a:solidFill>
                  <a:schemeClr val="tx1"/>
                </a:solidFill>
                <a:effectLst/>
                <a:latin typeface="Aptos"/>
              </a:rPr>
              <a:t>Legal and regulatory compliance with appropriate laws</a:t>
            </a:r>
          </a:p>
          <a:p>
            <a:pPr lvl="1"/>
            <a:r>
              <a:rPr lang="en-US" sz="2000" b="0" i="0" dirty="0">
                <a:solidFill>
                  <a:schemeClr val="tx1"/>
                </a:solidFill>
                <a:effectLst/>
                <a:latin typeface="Aptos"/>
              </a:rPr>
              <a:t>Training and awareness </a:t>
            </a:r>
          </a:p>
          <a:p>
            <a:pPr lvl="1"/>
            <a:endParaRPr lang="en-US" dirty="0"/>
          </a:p>
        </p:txBody>
      </p:sp>
    </p:spTree>
    <p:extLst>
      <p:ext uri="{BB962C8B-B14F-4D97-AF65-F5344CB8AC3E}">
        <p14:creationId xmlns:p14="http://schemas.microsoft.com/office/powerpoint/2010/main" val="36708408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E5937-2BB9-4364-8AFB-559E0107DB57}"/>
              </a:ext>
            </a:extLst>
          </p:cNvPr>
          <p:cNvSpPr>
            <a:spLocks noGrp="1"/>
          </p:cNvSpPr>
          <p:nvPr>
            <p:ph type="title"/>
          </p:nvPr>
        </p:nvSpPr>
        <p:spPr>
          <a:xfrm>
            <a:off x="765609" y="625007"/>
            <a:ext cx="10660781" cy="1325563"/>
          </a:xfrm>
        </p:spPr>
        <p:txBody>
          <a:bodyPr/>
          <a:lstStyle/>
          <a:p>
            <a:r>
              <a:rPr lang="en-US" sz="4000" dirty="0">
                <a:latin typeface="Aptos"/>
              </a:rPr>
              <a:t>ISO 27701 Privacy Information Management System (PIMS) Integration</a:t>
            </a:r>
          </a:p>
        </p:txBody>
      </p:sp>
      <p:sp>
        <p:nvSpPr>
          <p:cNvPr id="5" name="Content Placeholder 4">
            <a:extLst>
              <a:ext uri="{FF2B5EF4-FFF2-40B4-BE49-F238E27FC236}">
                <a16:creationId xmlns:a16="http://schemas.microsoft.com/office/drawing/2014/main" id="{CDCE9031-2427-450A-ADCB-DABC9FDDDE81}"/>
              </a:ext>
            </a:extLst>
          </p:cNvPr>
          <p:cNvSpPr>
            <a:spLocks noGrp="1"/>
          </p:cNvSpPr>
          <p:nvPr>
            <p:ph idx="1"/>
          </p:nvPr>
        </p:nvSpPr>
        <p:spPr>
          <a:xfrm>
            <a:off x="461936" y="2391743"/>
            <a:ext cx="7897671" cy="4466257"/>
          </a:xfrm>
        </p:spPr>
        <p:txBody>
          <a:bodyPr>
            <a:noAutofit/>
          </a:bodyPr>
          <a:lstStyle/>
          <a:p>
            <a:r>
              <a:rPr lang="en-US" dirty="0">
                <a:latin typeface="Aptos"/>
              </a:rPr>
              <a:t>What is ISO/IEC 27701?</a:t>
            </a:r>
          </a:p>
          <a:p>
            <a:pPr lvl="1"/>
            <a:r>
              <a:rPr lang="en-US" sz="1800" dirty="0">
                <a:latin typeface="Aptos"/>
              </a:rPr>
              <a:t>International Standard for Privacy Information Management System (PIMS).</a:t>
            </a:r>
          </a:p>
          <a:p>
            <a:pPr lvl="1"/>
            <a:r>
              <a:rPr lang="en-US" sz="1800" dirty="0">
                <a:latin typeface="Aptos"/>
              </a:rPr>
              <a:t>A Privacy extension to ISO/IEC 27001 Information Security Management System and ISO/IEC 27002 Security Controls.</a:t>
            </a:r>
          </a:p>
          <a:p>
            <a:pPr lvl="1"/>
            <a:r>
              <a:rPr lang="en-US" sz="1800" dirty="0">
                <a:latin typeface="Aptos"/>
              </a:rPr>
              <a:t>Provides guidance and requirements on the protection of privacy, helping both personally identifiable information (PII) processors and controllers to put robust data processes and controls in place.</a:t>
            </a:r>
          </a:p>
          <a:p>
            <a:pPr lvl="1"/>
            <a:r>
              <a:rPr lang="en-US" sz="2000" b="0" i="0" dirty="0">
                <a:solidFill>
                  <a:srgbClr val="333333"/>
                </a:solidFill>
                <a:effectLst/>
                <a:latin typeface="Aptos"/>
              </a:rPr>
              <a:t>The standard can provide the data privacy and information security standards required by General Data Protection Regulation (GDPR).</a:t>
            </a:r>
            <a:endParaRPr lang="en-US" sz="1800" dirty="0">
              <a:latin typeface="Aptos"/>
            </a:endParaRPr>
          </a:p>
        </p:txBody>
      </p:sp>
      <p:pic>
        <p:nvPicPr>
          <p:cNvPr id="8194" name="Picture 2" descr="ISO/IEC 27701 certification | OVHcloud UK">
            <a:extLst>
              <a:ext uri="{FF2B5EF4-FFF2-40B4-BE49-F238E27FC236}">
                <a16:creationId xmlns:a16="http://schemas.microsoft.com/office/drawing/2014/main" id="{ADCA4663-4D1C-441E-8E5E-A8CCA54764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9607" y="2391743"/>
            <a:ext cx="3066783" cy="3511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5222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privacy-impact-assessment">
            <a:extLst>
              <a:ext uri="{FF2B5EF4-FFF2-40B4-BE49-F238E27FC236}">
                <a16:creationId xmlns:a16="http://schemas.microsoft.com/office/drawing/2014/main" id="{DCA54C7A-A4A4-4039-8610-252F797504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9620" y="2938190"/>
            <a:ext cx="5200249" cy="272146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6F8C931-DB1F-4120-8356-A646426638FB}"/>
              </a:ext>
            </a:extLst>
          </p:cNvPr>
          <p:cNvSpPr>
            <a:spLocks noGrp="1"/>
          </p:cNvSpPr>
          <p:nvPr>
            <p:ph type="title"/>
          </p:nvPr>
        </p:nvSpPr>
        <p:spPr>
          <a:xfrm>
            <a:off x="904775" y="579031"/>
            <a:ext cx="9182501" cy="1205563"/>
          </a:xfrm>
        </p:spPr>
        <p:txBody>
          <a:bodyPr/>
          <a:lstStyle/>
          <a:p>
            <a:r>
              <a:rPr lang="en-US" sz="4000" dirty="0">
                <a:latin typeface="Aptos"/>
              </a:rPr>
              <a:t>Data Privacy Impact Assessment.</a:t>
            </a:r>
          </a:p>
        </p:txBody>
      </p:sp>
      <p:sp>
        <p:nvSpPr>
          <p:cNvPr id="4" name="Content Placeholder 3">
            <a:extLst>
              <a:ext uri="{FF2B5EF4-FFF2-40B4-BE49-F238E27FC236}">
                <a16:creationId xmlns:a16="http://schemas.microsoft.com/office/drawing/2014/main" id="{571DD4CE-5630-4296-BF20-9D1E83B67AD0}"/>
              </a:ext>
            </a:extLst>
          </p:cNvPr>
          <p:cNvSpPr>
            <a:spLocks noGrp="1"/>
          </p:cNvSpPr>
          <p:nvPr>
            <p:ph idx="1"/>
          </p:nvPr>
        </p:nvSpPr>
        <p:spPr>
          <a:xfrm>
            <a:off x="500436" y="2531444"/>
            <a:ext cx="5794485" cy="4100361"/>
          </a:xfrm>
        </p:spPr>
        <p:txBody>
          <a:bodyPr>
            <a:normAutofit/>
          </a:bodyPr>
          <a:lstStyle/>
          <a:p>
            <a:r>
              <a:rPr lang="en-US" b="0" i="0" dirty="0">
                <a:solidFill>
                  <a:schemeClr val="tx1"/>
                </a:solidFill>
                <a:effectLst/>
                <a:latin typeface="Aptos"/>
              </a:rPr>
              <a:t>Data Protection Impact Assessment (DPIA) describes a process designed to identify risks arising out of the processing of personal data and to minimize these risks as far and as early as possible. </a:t>
            </a:r>
          </a:p>
          <a:p>
            <a:r>
              <a:rPr lang="en-US" b="0" i="0" dirty="0">
                <a:solidFill>
                  <a:schemeClr val="tx1"/>
                </a:solidFill>
                <a:effectLst/>
                <a:latin typeface="Aptos"/>
              </a:rPr>
              <a:t>This assessment is particularly crucial in ensuring compliance with data protection regulations</a:t>
            </a:r>
            <a:r>
              <a:rPr lang="en-US" dirty="0">
                <a:solidFill>
                  <a:schemeClr val="tx1"/>
                </a:solidFill>
                <a:latin typeface="Aptos"/>
              </a:rPr>
              <a:t>.</a:t>
            </a:r>
          </a:p>
          <a:p>
            <a:r>
              <a:rPr lang="en-US" dirty="0">
                <a:solidFill>
                  <a:schemeClr val="tx1"/>
                </a:solidFill>
                <a:latin typeface="Aptos"/>
              </a:rPr>
              <a:t>Aim of DPIA include:</a:t>
            </a:r>
          </a:p>
          <a:p>
            <a:pPr lvl="1"/>
            <a:r>
              <a:rPr lang="en-US" dirty="0">
                <a:solidFill>
                  <a:schemeClr val="tx1"/>
                </a:solidFill>
                <a:latin typeface="Aptos"/>
              </a:rPr>
              <a:t>Identify and minimize data protection risks in data processing activities.</a:t>
            </a:r>
          </a:p>
          <a:p>
            <a:pPr lvl="1"/>
            <a:r>
              <a:rPr lang="en-US" dirty="0">
                <a:solidFill>
                  <a:schemeClr val="tx1"/>
                </a:solidFill>
                <a:latin typeface="Aptos"/>
              </a:rPr>
              <a:t>Ensure compliance with privacy regulations such as GDPR, NDPA GAID.</a:t>
            </a:r>
          </a:p>
        </p:txBody>
      </p:sp>
    </p:spTree>
    <p:extLst>
      <p:ext uri="{BB962C8B-B14F-4D97-AF65-F5344CB8AC3E}">
        <p14:creationId xmlns:p14="http://schemas.microsoft.com/office/powerpoint/2010/main" val="3787331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9557F-4C56-4AC5-8B30-BC87547DF6C1}"/>
              </a:ext>
            </a:extLst>
          </p:cNvPr>
          <p:cNvSpPr>
            <a:spLocks noGrp="1"/>
          </p:cNvSpPr>
          <p:nvPr>
            <p:ph type="title"/>
          </p:nvPr>
        </p:nvSpPr>
        <p:spPr/>
        <p:txBody>
          <a:bodyPr/>
          <a:lstStyle/>
          <a:p>
            <a:r>
              <a:rPr lang="en-US" sz="4000" dirty="0">
                <a:latin typeface="Aptos"/>
              </a:rPr>
              <a:t>Conclusion </a:t>
            </a:r>
          </a:p>
        </p:txBody>
      </p:sp>
      <p:sp>
        <p:nvSpPr>
          <p:cNvPr id="3" name="Content Placeholder 2">
            <a:extLst>
              <a:ext uri="{FF2B5EF4-FFF2-40B4-BE49-F238E27FC236}">
                <a16:creationId xmlns:a16="http://schemas.microsoft.com/office/drawing/2014/main" id="{402EAD6B-1A5A-497A-90C0-83C43CE05174}"/>
              </a:ext>
            </a:extLst>
          </p:cNvPr>
          <p:cNvSpPr>
            <a:spLocks noGrp="1"/>
          </p:cNvSpPr>
          <p:nvPr>
            <p:ph idx="1"/>
          </p:nvPr>
        </p:nvSpPr>
        <p:spPr>
          <a:xfrm>
            <a:off x="327182" y="2593873"/>
            <a:ext cx="6429752" cy="3932055"/>
          </a:xfrm>
        </p:spPr>
        <p:txBody>
          <a:bodyPr>
            <a:normAutofit/>
          </a:bodyPr>
          <a:lstStyle/>
          <a:p>
            <a:r>
              <a:rPr lang="en-US" dirty="0">
                <a:latin typeface="Aptos"/>
              </a:rPr>
              <a:t>GAID operationalizes the NDPA with precisions and authority for organizations, the obligations are unambiguous:</a:t>
            </a:r>
          </a:p>
          <a:p>
            <a:pPr lvl="1"/>
            <a:r>
              <a:rPr lang="en-US" sz="1800" dirty="0">
                <a:latin typeface="Aptos"/>
              </a:rPr>
              <a:t>Register, classify, appoint DPOs, conduct audits, file returns, maintain records, protect rights, notify breaches, regulate transfers &amp; train staffs.</a:t>
            </a:r>
          </a:p>
          <a:p>
            <a:r>
              <a:rPr lang="en-US" dirty="0">
                <a:latin typeface="Aptos"/>
              </a:rPr>
              <a:t>GAID 2025 transforms data protection from a compliance afterthought into a pillar of corporate governance.</a:t>
            </a:r>
          </a:p>
          <a:p>
            <a:r>
              <a:rPr lang="en-US" dirty="0">
                <a:latin typeface="Aptos"/>
              </a:rPr>
              <a:t>Businesses that embrace this transformation will not only avoid penalties but also build trust, attract investment, and thrive in Nigeria’s evolving digital economy.</a:t>
            </a:r>
          </a:p>
        </p:txBody>
      </p:sp>
      <p:pic>
        <p:nvPicPr>
          <p:cNvPr id="7172" name="Picture 4" descr="GAID 2025 Takes Effect: A New Data Privacy Compliance Era for Nigeria  Businesses">
            <a:extLst>
              <a:ext uri="{FF2B5EF4-FFF2-40B4-BE49-F238E27FC236}">
                <a16:creationId xmlns:a16="http://schemas.microsoft.com/office/drawing/2014/main" id="{DED29CF7-FF2E-4057-B15A-2A4F00FC6D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4193" y="2593874"/>
            <a:ext cx="5000625" cy="3575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46008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docProps/app.xml><?xml version="1.0" encoding="utf-8"?>
<Properties xmlns="http://schemas.openxmlformats.org/officeDocument/2006/extended-properties" xmlns:vt="http://schemas.openxmlformats.org/officeDocument/2006/docPropsVTypes">
  <Template>Ion Boardroom</Template>
  <TotalTime>757</TotalTime>
  <Words>1376</Words>
  <Application>Microsoft Office PowerPoint</Application>
  <PresentationFormat>Widescreen</PresentationFormat>
  <Paragraphs>110</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Arial</vt:lpstr>
      <vt:lpstr>Century Gothic</vt:lpstr>
      <vt:lpstr>Frutiger LT Std</vt:lpstr>
      <vt:lpstr>Inter</vt:lpstr>
      <vt:lpstr>Wingdings 3</vt:lpstr>
      <vt:lpstr>Ion Boardroom</vt:lpstr>
      <vt:lpstr>Data Privacy and Protection Culture in the Era of Emerging Technologies:</vt:lpstr>
      <vt:lpstr>Outline</vt:lpstr>
      <vt:lpstr>Data Privacy</vt:lpstr>
      <vt:lpstr>Data Protection</vt:lpstr>
      <vt:lpstr>Data Privacy and Protection Culture</vt:lpstr>
      <vt:lpstr>Emerging Technology</vt:lpstr>
      <vt:lpstr>Brief Overview of NDPR and NDPA</vt:lpstr>
      <vt:lpstr>NDPA General Application and Implementation Directive (GAID)</vt:lpstr>
      <vt:lpstr>General Compliance of GAID 2025</vt:lpstr>
      <vt:lpstr>Definition of Terms</vt:lpstr>
      <vt:lpstr>Definition of Terms</vt:lpstr>
      <vt:lpstr>Privacy by Design</vt:lpstr>
      <vt:lpstr>Privacy Governance</vt:lpstr>
      <vt:lpstr>ISO 27701 Privacy Information Management System (PIMS) Integration</vt:lpstr>
      <vt:lpstr>Data Privacy Impact Assessment.</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Privacy and Protection Culture in the Era of Emerging Technologies:</dc:title>
  <dc:creator>USER</dc:creator>
  <cp:lastModifiedBy>USER</cp:lastModifiedBy>
  <cp:revision>58</cp:revision>
  <dcterms:created xsi:type="dcterms:W3CDTF">2026-01-23T10:41:41Z</dcterms:created>
  <dcterms:modified xsi:type="dcterms:W3CDTF">2026-01-28T09:37:47Z</dcterms:modified>
</cp:coreProperties>
</file>